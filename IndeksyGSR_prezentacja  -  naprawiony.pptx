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99"/>
    <p:restoredTop sz="94719"/>
  </p:normalViewPr>
  <p:slideViewPr>
    <p:cSldViewPr snapToGrid="0" snapToObjects="1">
      <p:cViewPr varScale="1">
        <p:scale>
          <a:sx n="181" d="100"/>
          <a:sy n="181" d="100"/>
        </p:scale>
        <p:origin x="2296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54480"/>
            <a:ext cx="9144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2AA198"/>
                </a:solidFill>
                <a:latin typeface="Calibri"/>
              </a:rPr>
              <a:t>IndeksyGSR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8036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DF6E3"/>
                </a:solidFill>
                <a:latin typeface="Calibri"/>
              </a:rPr>
              <a:t>Inteligentny system wyszukiwania indeksów materiałowych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703320"/>
            <a:ext cx="7315200" cy="25400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31920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3A1A1"/>
                </a:solidFill>
                <a:latin typeface="Calibri"/>
              </a:rPr>
              <a:t>Projekt dyplomowy · Politechnika Gdańska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6126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93A1A1"/>
                </a:solidFill>
                <a:latin typeface="Calibri"/>
              </a:rPr>
              <a:t>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Czym są indeksy materiałów?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DF6E3"/>
                </a:solidFill>
                <a:latin typeface="Calibri"/>
              </a:rPr>
              <a:t>Indeks materiału to unikalny kod identyfikujący każdy rodzaj materiału lub części w magazynie lub katalogu technicznym — podobnie jak ISBN dla książki.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48840"/>
            <a:ext cx="3605784" cy="1920240"/>
          </a:xfrm>
          <a:prstGeom prst="rect">
            <a:avLst/>
          </a:prstGeom>
          <a:solidFill>
            <a:srgbClr val="073642"/>
          </a:solidFill>
          <a:ln w="2540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3422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A198"/>
                </a:solidFill>
                <a:latin typeface="Calibri"/>
              </a:rPr>
              <a:t>ŚRUBA-M20-DIN931-OGNIOWO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43200"/>
            <a:ext cx="3605784" cy="127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422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Śruba M20×80 DIN 931
ocynkowana ogniowo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1584" y="2148840"/>
            <a:ext cx="3605784" cy="1920240"/>
          </a:xfrm>
          <a:prstGeom prst="rect">
            <a:avLst/>
          </a:prstGeom>
          <a:solidFill>
            <a:srgbClr val="073642"/>
          </a:solidFill>
          <a:ln w="2540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28744" y="2240280"/>
            <a:ext cx="3422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8BD2"/>
                </a:solidFill>
                <a:latin typeface="Calibri"/>
              </a:rPr>
              <a:t>RURA-DN50-ST35-BW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1584" y="2743200"/>
            <a:ext cx="3605784" cy="12700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28744" y="2834640"/>
            <a:ext cx="3422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Rura stalowa DN50
bezszwowa St35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0248" y="2148840"/>
            <a:ext cx="3605784" cy="1920240"/>
          </a:xfrm>
          <a:prstGeom prst="rect">
            <a:avLst/>
          </a:prstGeom>
          <a:solidFill>
            <a:srgbClr val="073642"/>
          </a:solidFill>
          <a:ln w="25400">
            <a:solidFill>
              <a:srgbClr val="85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7408" y="2240280"/>
            <a:ext cx="3422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59900"/>
                </a:solidFill>
                <a:latin typeface="Calibri"/>
              </a:rPr>
              <a:t>USZCZ-GUMA-EPDM-3MM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0248" y="2743200"/>
            <a:ext cx="3605784" cy="12700"/>
          </a:xfrm>
          <a:prstGeom prst="rect">
            <a:avLst/>
          </a:prstGeom>
          <a:solidFill>
            <a:srgbClr val="85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7408" y="2834640"/>
            <a:ext cx="3422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Uszczelka gumowa EPDM
grubość 3 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251960"/>
            <a:ext cx="11183112" cy="2286000"/>
          </a:xfrm>
          <a:prstGeom prst="rect">
            <a:avLst/>
          </a:prstGeom>
          <a:solidFill>
            <a:srgbClr val="0A424F"/>
          </a:solidFill>
          <a:ln w="19050"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108173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DF6E3"/>
                </a:solidFill>
                <a:latin typeface="Calibri"/>
              </a:rPr>
              <a:t>🏭  W dużych stoczniach i przedsiębiorstwach przemysłowych katalogi materiałów liczą dziesiątki tysięcy pozycji.
Baza IndeksyGSR zawiera  69 000  indeksów.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Problem — jak wygląda to dziś?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3605784" cy="2103120"/>
          </a:xfrm>
          <a:prstGeom prst="rect">
            <a:avLst/>
          </a:prstGeom>
          <a:solidFill>
            <a:srgbClr val="073642"/>
          </a:solidFill>
          <a:ln w="1905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6057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3"/>
                </a:solidFill>
                <a:latin typeface="Calibri"/>
              </a:rPr>
              <a:t>📋 Pracownik otrzymuje
opis produktu:
"śruba M20
ocynkowana ogniowo"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1584" y="1234440"/>
            <a:ext cx="3605784" cy="2103120"/>
          </a:xfrm>
          <a:prstGeom prst="rect">
            <a:avLst/>
          </a:prstGeom>
          <a:solidFill>
            <a:srgbClr val="073642"/>
          </a:solidFill>
          <a:ln w="19050">
            <a:solidFill>
              <a:srgbClr val="CB4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1584" y="1234440"/>
            <a:ext cx="36057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3"/>
                </a:solidFill>
                <a:latin typeface="Calibri"/>
              </a:rPr>
              <a:t>📚 Przeszukuje ręcznie
katalog
69 000 pozycji</a:t>
            </a:r>
          </a:p>
        </p:txBody>
      </p:sp>
      <p:sp>
        <p:nvSpPr>
          <p:cNvPr id="8" name="Rectangle 7"/>
          <p:cNvSpPr/>
          <p:nvPr/>
        </p:nvSpPr>
        <p:spPr>
          <a:xfrm>
            <a:off x="8080248" y="1234440"/>
            <a:ext cx="3605784" cy="2103120"/>
          </a:xfrm>
          <a:prstGeom prst="rect">
            <a:avLst/>
          </a:prstGeom>
          <a:solidFill>
            <a:srgbClr val="073642"/>
          </a:solidFill>
          <a:ln w="19050">
            <a:solidFill>
              <a:srgbClr val="CB4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80248" y="1234440"/>
            <a:ext cx="36057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3"/>
                </a:solidFill>
                <a:latin typeface="Calibri"/>
              </a:rPr>
              <a:t>⏱ Wynik:
Czasochłonne
Podatne na błędy
Niespójne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02920" y="3520440"/>
            <a:ext cx="11183112" cy="3017520"/>
          </a:xfrm>
          <a:prstGeom prst="rect">
            <a:avLst/>
          </a:prstGeom>
          <a:solidFill>
            <a:srgbClr val="073642"/>
          </a:solidFill>
          <a:ln w="12700">
            <a:solidFill>
              <a:srgbClr val="CB4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630168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B4B16"/>
                </a:solidFill>
                <a:latin typeface="Calibri"/>
              </a:rPr>
              <a:t>Skutki dla organizacji: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81735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❌  Ten sam materiał może być wpisany pod różnymi kodami przez różnych pracowników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52010"/>
            <a:ext cx="1081735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❌  Ręczne przeszukiwanie katalogu 69 000 pozycji zajmuje kilkanaście minut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80660"/>
            <a:ext cx="1081735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❌  Synonimy i skróty (np. "ocynkowana ogniowo" = "OGNIOWO") nie są rozpoznawane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09310"/>
            <a:ext cx="1081735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❌  Błędy w przypisaniu indeksu powodują problemy z zamówieniami i magazynowaniem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Cel projektu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477256" cy="5303520"/>
          </a:xfrm>
          <a:prstGeom prst="rect">
            <a:avLst/>
          </a:prstGeom>
          <a:solidFill>
            <a:srgbClr val="073642"/>
          </a:solidFill>
          <a:ln w="25400">
            <a:solidFill>
              <a:srgbClr val="CB4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477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B4B16"/>
                </a:solidFill>
                <a:latin typeface="Calibri"/>
              </a:rPr>
              <a:t>PRZED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5477256" cy="19050"/>
          </a:xfrm>
          <a:prstGeom prst="rect">
            <a:avLst/>
          </a:prstGeom>
          <a:solidFill>
            <a:srgbClr val="CB4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1"/>
                </a:solidFill>
                <a:latin typeface="Calibri"/>
              </a:rPr>
              <a:t>  Pracownik wpisuje opis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1"/>
                </a:solidFill>
                <a:latin typeface="Calibri"/>
              </a:rPr>
              <a:t>  Ręcznie przeszukuje Excel / katalog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490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1"/>
                </a:solidFill>
                <a:latin typeface="Calibri"/>
              </a:rPr>
              <a:t>  Kilkanaście minut pracy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634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1"/>
                </a:solidFill>
                <a:latin typeface="Calibri"/>
              </a:rPr>
              <a:t>  Ryzyko błędu lub pominięcia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778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1"/>
                </a:solidFill>
                <a:latin typeface="Calibri"/>
              </a:rPr>
              <a:t>  Brak pewności co do indeksu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8464" y="36118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AA19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234440"/>
            <a:ext cx="5477256" cy="5303520"/>
          </a:xfrm>
          <a:prstGeom prst="rect">
            <a:avLst/>
          </a:prstGeom>
          <a:solidFill>
            <a:srgbClr val="073642"/>
          </a:solidFill>
          <a:ln w="25400">
            <a:solidFill>
              <a:srgbClr val="85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08776" y="1325880"/>
            <a:ext cx="5477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59900"/>
                </a:solidFill>
                <a:latin typeface="Calibri"/>
              </a:rPr>
              <a:t>PO WDROŻENIU IndeksyGSR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783080"/>
            <a:ext cx="5477256" cy="19050"/>
          </a:xfrm>
          <a:prstGeom prst="rect">
            <a:avLst/>
          </a:prstGeom>
          <a:solidFill>
            <a:srgbClr val="85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1656" y="19202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✓  Pracownik wpisuje opis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8346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✓  System zwraca wyniki w &lt; 1 sekundy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37490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✓  Wyniki posortowane wg dopasowania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46634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✓  Wyświetlany % pewności dopasowania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55778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✓  Możliwość zaproponowania nowego indeksu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Jak działa system?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3112" cy="640080"/>
          </a:xfrm>
          <a:prstGeom prst="rect">
            <a:avLst/>
          </a:prstGeom>
          <a:solidFill>
            <a:srgbClr val="0A424F"/>
          </a:solidFill>
          <a:ln w="1270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A198"/>
                </a:solidFill>
                <a:latin typeface="Calibri"/>
              </a:rPr>
              <a:t>💡  Analogia: Google rozumie że "duży metalowy statek" = "okręt".  IndeksyGSR rozumie że "ocynkowana ogniowo" = "OGNIOWO", "nierdzewna" = "A2".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2692908" cy="1508760"/>
          </a:xfrm>
          <a:prstGeom prst="rect">
            <a:avLst/>
          </a:prstGeom>
          <a:solidFill>
            <a:srgbClr val="073642"/>
          </a:solidFill>
          <a:ln w="19050">
            <a:solidFill>
              <a:srgbClr val="FDF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26929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DF6E3"/>
                </a:solidFill>
                <a:latin typeface="Calibri"/>
              </a:rPr>
              <a:t>"śruba M20
ocynkowana ogniowo"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2988" y="2057400"/>
            <a:ext cx="2692908" cy="1508760"/>
          </a:xfrm>
          <a:prstGeom prst="rect">
            <a:avLst/>
          </a:prstGeom>
          <a:solidFill>
            <a:srgbClr val="0A424F"/>
          </a:solidFill>
          <a:ln w="1905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2988" y="2057400"/>
            <a:ext cx="26929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A198"/>
                </a:solidFill>
                <a:latin typeface="Calibri"/>
              </a:rPr>
              <a:t>Zrozumienie
znaczenia
i synonimów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2057400"/>
            <a:ext cx="2692908" cy="1508760"/>
          </a:xfrm>
          <a:prstGeom prst="rect">
            <a:avLst/>
          </a:prstGeom>
          <a:solidFill>
            <a:srgbClr val="0A424F"/>
          </a:solidFill>
          <a:ln w="1905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63056" y="2057400"/>
            <a:ext cx="26929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8BD2"/>
                </a:solidFill>
                <a:latin typeface="Calibri"/>
              </a:rPr>
              <a:t>Przeszukanie
bazy 69 000
indeksów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93124" y="2057400"/>
            <a:ext cx="2692908" cy="1508760"/>
          </a:xfrm>
          <a:prstGeom prst="rect">
            <a:avLst/>
          </a:prstGeom>
          <a:solidFill>
            <a:srgbClr val="073642"/>
          </a:solidFill>
          <a:ln w="19050">
            <a:solidFill>
              <a:srgbClr val="85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93124" y="2057400"/>
            <a:ext cx="26929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59900"/>
                </a:solidFill>
                <a:latin typeface="Calibri"/>
              </a:rPr>
              <a:t>Wyniki
z oceną
pewności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374904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3A1A1"/>
                </a:solidFill>
                <a:latin typeface="Calibri"/>
              </a:rPr>
              <a:t>Przykładowe wyniki dla zapytania "śruba M20 ocynkowana ogniowo":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114800"/>
            <a:ext cx="11183112" cy="771144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160520"/>
            <a:ext cx="41148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A198"/>
                </a:solidFill>
                <a:latin typeface="Calibri"/>
              </a:rPr>
              <a:t>ŚRUBA-M20-DIN931-OGNIOWO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160520"/>
            <a:ext cx="50292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DF6E3"/>
                </a:solidFill>
                <a:latin typeface="Calibri"/>
              </a:rPr>
              <a:t>Śruba M20×80 ocynkowana ogniowo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88752" y="4160520"/>
            <a:ext cx="9144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859900"/>
                </a:solidFill>
                <a:latin typeface="Calibri"/>
              </a:rPr>
              <a:t>94%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922520"/>
            <a:ext cx="11183112" cy="771144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968240"/>
            <a:ext cx="41148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A198"/>
                </a:solidFill>
                <a:latin typeface="Calibri"/>
              </a:rPr>
              <a:t>ŚRUBA-M20-DIN931-A2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968240"/>
            <a:ext cx="50292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DF6E3"/>
                </a:solidFill>
                <a:latin typeface="Calibri"/>
              </a:rPr>
              <a:t>Śruba M20×80 nierdzewna A2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88752" y="4968240"/>
            <a:ext cx="9144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B58900"/>
                </a:solidFill>
                <a:latin typeface="Calibri"/>
              </a:rPr>
              <a:t>71%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30240"/>
            <a:ext cx="11183112" cy="771144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5775960"/>
            <a:ext cx="41148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A198"/>
                </a:solidFill>
                <a:latin typeface="Calibri"/>
              </a:rPr>
              <a:t>ŚRUBA-M20-DIN933-OGNIOWO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5775960"/>
            <a:ext cx="50292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DF6E3"/>
                </a:solidFill>
                <a:latin typeface="Calibri"/>
              </a:rPr>
              <a:t>Śruba M20×50 ocynkowana ogniowo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88752" y="5775960"/>
            <a:ext cx="9144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B4B16"/>
                </a:solidFill>
                <a:latin typeface="Calibri"/>
              </a:rPr>
              <a:t>58%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Moduły aplikacji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3A1A1"/>
                </a:solidFill>
                <a:latin typeface="Calibri"/>
              </a:rPr>
              <a:t>Aplikacja posiada 4 tryby pracy dostępne przez przeglądarkę internetową: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5477256" cy="1508760"/>
          </a:xfrm>
          <a:prstGeom prst="rect">
            <a:avLst/>
          </a:prstGeom>
          <a:solidFill>
            <a:srgbClr val="073642"/>
          </a:solidFill>
          <a:ln w="1905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202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A198"/>
                </a:solidFill>
                <a:latin typeface="Calibri"/>
              </a:rPr>
              <a:t>🔍  Wyszukiwanie po tekście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52029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1"/>
                </a:solidFill>
                <a:latin typeface="Calibri"/>
              </a:rPr>
              <a:t>Wpisz opis materiału. System zwraca listę pasujących indeksów z oceną pewności dopasowania.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8776" y="1737360"/>
            <a:ext cx="5477256" cy="1508760"/>
          </a:xfrm>
          <a:prstGeom prst="rect">
            <a:avLst/>
          </a:prstGeom>
          <a:solidFill>
            <a:srgbClr val="073642"/>
          </a:solidFill>
          <a:ln w="1905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91656" y="1828800"/>
            <a:ext cx="5202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8BD2"/>
                </a:solidFill>
                <a:latin typeface="Calibri"/>
              </a:rPr>
              <a:t>🌐  Wyszukiwanie po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6" y="2331720"/>
            <a:ext cx="52029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1"/>
                </a:solidFill>
                <a:latin typeface="Calibri"/>
              </a:rPr>
              <a:t>Wklej link do produktu w sklepie. System automatycznie pobiera dane ze strony i szuka indeksu.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474720"/>
            <a:ext cx="5477256" cy="1508760"/>
          </a:xfrm>
          <a:prstGeom prst="rect">
            <a:avLst/>
          </a:prstGeom>
          <a:solidFill>
            <a:srgbClr val="073642"/>
          </a:solidFill>
          <a:ln w="19050">
            <a:solidFill>
              <a:srgbClr val="85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5202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59900"/>
                </a:solidFill>
                <a:latin typeface="Calibri"/>
              </a:rPr>
              <a:t>📋  Wyszukiwanie zbiorcze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52029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1"/>
                </a:solidFill>
                <a:latin typeface="Calibri"/>
              </a:rPr>
              <a:t>Wgraj plik Excel z listą opisów. Pobierz gotowy plik z przypisanymi indeksami i % pewności.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3474720"/>
            <a:ext cx="5477256" cy="1508760"/>
          </a:xfrm>
          <a:prstGeom prst="rect">
            <a:avLst/>
          </a:prstGeom>
          <a:solidFill>
            <a:srgbClr val="073642"/>
          </a:solidFill>
          <a:ln w="19050"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6" y="3566160"/>
            <a:ext cx="5202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58900"/>
                </a:solidFill>
                <a:latin typeface="Calibri"/>
              </a:rPr>
              <a:t>📝  Propozycje nowych indeksów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4069080"/>
            <a:ext cx="52029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1"/>
                </a:solidFill>
                <a:latin typeface="Calibri"/>
              </a:rPr>
              <a:t>Jeśli żaden indeks nie pasuje, zaproponuj nowy. System podpowiada kategorię i zatwierdza do bazy.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Moduł 1 — Wyszukiwanie po tekście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3112" cy="5303520"/>
          </a:xfrm>
          <a:prstGeom prst="rect">
            <a:avLst/>
          </a:prstGeom>
          <a:solidFill>
            <a:srgbClr val="073642"/>
          </a:solidFill>
          <a:ln w="1905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83112" cy="347472"/>
          </a:xfrm>
          <a:prstGeom prst="rect">
            <a:avLst/>
          </a:prstGeom>
          <a:solidFill>
            <a:srgbClr val="0A4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71016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1"/>
                </a:solidFill>
                <a:latin typeface="Calibri"/>
              </a:rPr>
              <a:t>🔒  indeksygsr.app/search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19072"/>
            <a:ext cx="8961120" cy="475488"/>
          </a:xfrm>
          <a:prstGeom prst="rect">
            <a:avLst/>
          </a:prstGeom>
          <a:solidFill>
            <a:srgbClr val="002B36"/>
          </a:solidFill>
          <a:ln w="1905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8595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śruba M20 ocynkowana ogniowo 80mm DIN 931</a:t>
            </a:r>
          </a:p>
        </p:txBody>
      </p:sp>
      <p:sp>
        <p:nvSpPr>
          <p:cNvPr id="9" name="Rectangle 8"/>
          <p:cNvSpPr/>
          <p:nvPr/>
        </p:nvSpPr>
        <p:spPr>
          <a:xfrm>
            <a:off x="9829800" y="1719072"/>
            <a:ext cx="1600200" cy="47548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29800" y="1783080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DF6E3"/>
                </a:solidFill>
                <a:latin typeface="Calibri"/>
              </a:rPr>
              <a:t>Szukaj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31720"/>
            <a:ext cx="10725912" cy="320040"/>
          </a:xfrm>
          <a:prstGeom prst="rect">
            <a:avLst/>
          </a:prstGeom>
          <a:solidFill>
            <a:srgbClr val="0A4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236829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3A1A1"/>
                </a:solidFill>
                <a:latin typeface="Calibri"/>
              </a:rPr>
              <a:t>Nazwa / Indeks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999" y="2368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3A1A1"/>
                </a:solidFill>
                <a:latin typeface="Calibri"/>
              </a:rPr>
              <a:t>Pewność dopasowania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51760"/>
            <a:ext cx="10725912" cy="816102"/>
          </a:xfrm>
          <a:prstGeom prst="rect">
            <a:avLst/>
          </a:prstGeom>
          <a:solidFill>
            <a:srgbClr val="0A4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697480"/>
            <a:ext cx="32004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A198"/>
                </a:solidFill>
                <a:latin typeface="Calibri"/>
              </a:rPr>
              <a:t>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47472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A198"/>
                </a:solidFill>
                <a:latin typeface="Calibri"/>
              </a:rPr>
              <a:t>ŚRUBA-M20-DIN931-OGNIOWO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697480"/>
            <a:ext cx="50292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Śruba M20×80 DIN 931 ocynkowana ogniowo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97312" y="2697480"/>
            <a:ext cx="9144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859900"/>
                </a:solidFill>
                <a:latin typeface="Calibri"/>
              </a:rPr>
              <a:t>94%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86150"/>
            <a:ext cx="10725912" cy="816102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531870"/>
            <a:ext cx="32004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1"/>
                </a:solidFill>
                <a:latin typeface="Calibri"/>
              </a:rPr>
              <a:t>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31870"/>
            <a:ext cx="347472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A198"/>
                </a:solidFill>
                <a:latin typeface="Calibri"/>
              </a:rPr>
              <a:t>ŚRUBA-M20-DIN931-OGNIOWO-100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531870"/>
            <a:ext cx="50292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Śruba M20×100 DIN 931 ocynkowana ogniowo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97312" y="3531870"/>
            <a:ext cx="9144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859900"/>
                </a:solidFill>
                <a:latin typeface="Calibri"/>
              </a:rPr>
              <a:t>87%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320540"/>
            <a:ext cx="10725912" cy="816102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366260"/>
            <a:ext cx="32004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1"/>
                </a:solidFill>
                <a:latin typeface="Calibri"/>
              </a:rP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366260"/>
            <a:ext cx="347472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A198"/>
                </a:solidFill>
                <a:latin typeface="Calibri"/>
              </a:rPr>
              <a:t>ŚRUBA-M20-DIN933-OGNIOWO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366260"/>
            <a:ext cx="50292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Śruba M20×50 DIN 933 ocynkowana ogniowo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97312" y="4366260"/>
            <a:ext cx="9144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B58900"/>
                </a:solidFill>
                <a:latin typeface="Calibri"/>
              </a:rPr>
              <a:t>72%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154930"/>
            <a:ext cx="10725912" cy="816102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200650"/>
            <a:ext cx="32004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1"/>
                </a:solidFill>
                <a:latin typeface="Calibri"/>
              </a:rPr>
              <a:t>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200650"/>
            <a:ext cx="347472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A198"/>
                </a:solidFill>
                <a:latin typeface="Calibri"/>
              </a:rPr>
              <a:t>ŚRUBA-M20-IS04014-OGNIOWO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5200650"/>
            <a:ext cx="50292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Śruba M20×60 ISO 4014 ocynkowana ogniowo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97312" y="5200650"/>
            <a:ext cx="9144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B58900"/>
                </a:solidFill>
                <a:latin typeface="Calibri"/>
              </a:rPr>
              <a:t>65%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6062472"/>
            <a:ext cx="2651760" cy="420624"/>
          </a:xfrm>
          <a:prstGeom prst="rect">
            <a:avLst/>
          </a:prstGeom>
          <a:solidFill>
            <a:srgbClr val="85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60990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DF6E3"/>
                </a:solidFill>
                <a:latin typeface="Calibri"/>
              </a:rPr>
              <a:t>✓  Zapisz zaznaczone (1)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Moduł 2 — Wyszukiwanie po URL sklepu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DF6E3"/>
                </a:solidFill>
                <a:latin typeface="Calibri"/>
              </a:rPr>
              <a:t>Użytkownik wkleja link do produktu w sklepie internetowym (np. Allegro, TME). System automatycznie pobiera dane ze strony — bez konieczności ręcznego przepisywania opisu.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2658618" cy="1554480"/>
          </a:xfrm>
          <a:prstGeom prst="rect">
            <a:avLst/>
          </a:prstGeom>
          <a:solidFill>
            <a:srgbClr val="073642"/>
          </a:solidFill>
          <a:ln w="19050">
            <a:solidFill>
              <a:srgbClr val="FDF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265861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DF6E3"/>
                </a:solidFill>
                <a:latin typeface="Calibri"/>
              </a:rPr>
              <a:t>🌐 Link
do produktu
w sklepie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4418" y="2057400"/>
            <a:ext cx="2658618" cy="1554480"/>
          </a:xfrm>
          <a:prstGeom prst="rect">
            <a:avLst/>
          </a:prstGeom>
          <a:solidFill>
            <a:srgbClr val="0A424F"/>
          </a:solidFill>
          <a:ln w="1905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44418" y="2057400"/>
            <a:ext cx="265861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A198"/>
                </a:solidFill>
                <a:latin typeface="Calibri"/>
              </a:rPr>
              <a:t>🤖 Robot
pobiera dane
ze strony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5916" y="2057400"/>
            <a:ext cx="2658618" cy="1554480"/>
          </a:xfrm>
          <a:prstGeom prst="rect">
            <a:avLst/>
          </a:prstGeom>
          <a:solidFill>
            <a:srgbClr val="0A424F"/>
          </a:solidFill>
          <a:ln w="1905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85916" y="2057400"/>
            <a:ext cx="265861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8BD2"/>
                </a:solidFill>
                <a:latin typeface="Calibri"/>
              </a:rPr>
              <a:t>📝 Ekstrakcja:
tytuł, opis,
specyfikacja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27414" y="2057400"/>
            <a:ext cx="2658618" cy="1554480"/>
          </a:xfrm>
          <a:prstGeom prst="rect">
            <a:avLst/>
          </a:prstGeom>
          <a:solidFill>
            <a:srgbClr val="073642"/>
          </a:solidFill>
          <a:ln w="19050">
            <a:solidFill>
              <a:srgbClr val="85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27414" y="2057400"/>
            <a:ext cx="265861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59900"/>
                </a:solidFill>
                <a:latin typeface="Calibri"/>
              </a:rPr>
              <a:t>✅ Lista
pasujących
indeksów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3794760"/>
            <a:ext cx="11183112" cy="475488"/>
          </a:xfrm>
          <a:prstGeom prst="rect">
            <a:avLst/>
          </a:prstGeom>
          <a:solidFill>
            <a:srgbClr val="0A424F"/>
          </a:solidFill>
          <a:ln w="1270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10817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A198"/>
                </a:solidFill>
                <a:latin typeface="Calibri"/>
              </a:rPr>
              <a:t>Przykład: https://allegro.pl/oferta/sruba-m20-ocynkowana-ogniowo-din931-...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5312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3A1A1"/>
                </a:solidFill>
                <a:latin typeface="Calibri"/>
              </a:rPr>
              <a:t>Obsługiwane źródła: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864608"/>
            <a:ext cx="3605784" cy="502920"/>
          </a:xfrm>
          <a:prstGeom prst="rect">
            <a:avLst/>
          </a:prstGeom>
          <a:solidFill>
            <a:srgbClr val="073642"/>
          </a:solidFill>
          <a:ln w="1270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956048"/>
            <a:ext cx="3422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🛒  Allegro.pl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1584" y="4864608"/>
            <a:ext cx="3605784" cy="502920"/>
          </a:xfrm>
          <a:prstGeom prst="rect">
            <a:avLst/>
          </a:prstGeom>
          <a:solidFill>
            <a:srgbClr val="073642"/>
          </a:solidFill>
          <a:ln w="1270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28744" y="4956048"/>
            <a:ext cx="3422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⚡  TME.eu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0248" y="4864608"/>
            <a:ext cx="3605784" cy="502920"/>
          </a:xfrm>
          <a:prstGeom prst="rect">
            <a:avLst/>
          </a:prstGeom>
          <a:solidFill>
            <a:srgbClr val="073642"/>
          </a:solidFill>
          <a:ln w="1270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7408" y="4956048"/>
            <a:ext cx="3422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🌍  Dowolna strona produktowa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Moduł 3 — Wyszukiwanie zbiorcze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DF6E3"/>
                </a:solidFill>
                <a:latin typeface="Calibri"/>
              </a:rPr>
              <a:t>Idealne gdy masz listę dziesiątek lub setek materiałów do skatalogowania — np. przy inwentaryzacji lub tworzeniu nowej dokumentacji technicznej.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3575304" cy="1737360"/>
          </a:xfrm>
          <a:prstGeom prst="rect">
            <a:avLst/>
          </a:prstGeom>
          <a:solidFill>
            <a:srgbClr val="073642"/>
          </a:solidFill>
          <a:ln w="1905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3575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A198"/>
                </a:solidFill>
                <a:latin typeface="Calibri"/>
              </a:rPr>
              <a:t>📊 Plik wejściowy
(.xlsx)
Kolumna:
opis_materialu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6824" y="2057400"/>
            <a:ext cx="3575304" cy="1737360"/>
          </a:xfrm>
          <a:prstGeom prst="rect">
            <a:avLst/>
          </a:prstGeom>
          <a:solidFill>
            <a:srgbClr val="0A424F"/>
          </a:solidFill>
          <a:ln w="1905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06824" y="2057400"/>
            <a:ext cx="3575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8BD2"/>
                </a:solidFill>
                <a:latin typeface="Calibri"/>
              </a:rPr>
              <a:t>⚙️  IndeksyGSR
Przetwarza
wszystkie opisy
automatycznie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0728" y="2057400"/>
            <a:ext cx="3575304" cy="1737360"/>
          </a:xfrm>
          <a:prstGeom prst="rect">
            <a:avLst/>
          </a:prstGeom>
          <a:solidFill>
            <a:srgbClr val="073642"/>
          </a:solidFill>
          <a:ln w="19050">
            <a:solidFill>
              <a:srgbClr val="85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8" y="2057400"/>
            <a:ext cx="3575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59900"/>
                </a:solidFill>
                <a:latin typeface="Calibri"/>
              </a:rPr>
              <a:t>📊 Plik wynikowy
(.xlsx)
Indeksy
+ % pewności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397764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3A1A1"/>
                </a:solidFill>
                <a:latin typeface="Calibri"/>
              </a:rPr>
              <a:t>Fragment pliku wynikowego: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325112"/>
            <a:ext cx="11183112" cy="301752"/>
          </a:xfrm>
          <a:prstGeom prst="rect">
            <a:avLst/>
          </a:prstGeom>
          <a:solidFill>
            <a:srgbClr val="0A4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361688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3A1A1"/>
                </a:solidFill>
                <a:latin typeface="Calibri"/>
              </a:rPr>
              <a:t>Opis materiału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36168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3A1A1"/>
                </a:solidFill>
                <a:latin typeface="Calibri"/>
              </a:rPr>
              <a:t>Indeks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36168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3A1A1"/>
                </a:solidFill>
                <a:latin typeface="Calibri"/>
              </a:rPr>
              <a:t>Nazwa materiału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436168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3A1A1"/>
                </a:solidFill>
                <a:latin typeface="Calibri"/>
              </a:rPr>
              <a:t>Pewność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626864"/>
            <a:ext cx="11183112" cy="928116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672584"/>
            <a:ext cx="402336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śruba M20 ocynkowana ogniowo 80mm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672584"/>
            <a:ext cx="192024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A198"/>
                </a:solidFill>
                <a:latin typeface="Calibri"/>
              </a:rPr>
              <a:t>ŚRUBA-M20-DIN931-OGNIOWO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672584"/>
            <a:ext cx="347472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Śruba M20×80 DIN 931 ocynk.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80192" y="4672584"/>
            <a:ext cx="91440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859900"/>
                </a:solidFill>
                <a:latin typeface="Calibri"/>
              </a:rPr>
              <a:t>94%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582412"/>
            <a:ext cx="11183112" cy="928116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628132"/>
            <a:ext cx="402336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rura stalowa DN50 bezszwowa St35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5628132"/>
            <a:ext cx="192024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A198"/>
                </a:solidFill>
                <a:latin typeface="Calibri"/>
              </a:rPr>
              <a:t>RURA-DN50-ST35-BW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628132"/>
            <a:ext cx="347472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Rura stalowa DN50 bezszwowa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5628132"/>
            <a:ext cx="91440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859900"/>
                </a:solidFill>
                <a:latin typeface="Calibri"/>
              </a:rPr>
              <a:t>88%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Wyniki projektu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2658618" cy="1600200"/>
          </a:xfrm>
          <a:prstGeom prst="rect">
            <a:avLst/>
          </a:prstGeom>
          <a:solidFill>
            <a:srgbClr val="073642"/>
          </a:solidFill>
          <a:ln w="1905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265861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2AA198"/>
                </a:solidFill>
                <a:latin typeface="Calibri"/>
              </a:rPr>
              <a:t>68 991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26586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3A1A1"/>
                </a:solidFill>
                <a:latin typeface="Calibri"/>
              </a:rPr>
              <a:t>indeksów w bazie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4418" y="1234440"/>
            <a:ext cx="2658618" cy="1600200"/>
          </a:xfrm>
          <a:prstGeom prst="rect">
            <a:avLst/>
          </a:prstGeom>
          <a:solidFill>
            <a:srgbClr val="073642"/>
          </a:solidFill>
          <a:ln w="19050">
            <a:solidFill>
              <a:srgbClr val="85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44418" y="1371600"/>
            <a:ext cx="265861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859900"/>
                </a:solidFill>
                <a:latin typeface="Calibri"/>
              </a:rPr>
              <a:t>&lt; 1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4418" y="2148840"/>
            <a:ext cx="26586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3A1A1"/>
                </a:solidFill>
                <a:latin typeface="Calibri"/>
              </a:rPr>
              <a:t>czas odpowiedzi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234440"/>
            <a:ext cx="2658618" cy="1600200"/>
          </a:xfrm>
          <a:prstGeom prst="rect">
            <a:avLst/>
          </a:prstGeom>
          <a:solidFill>
            <a:srgbClr val="073642"/>
          </a:solidFill>
          <a:ln w="1905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85916" y="1371600"/>
            <a:ext cx="265861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268BD2"/>
                </a:solidFill>
                <a:latin typeface="Calibri"/>
              </a:rP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916" y="2148840"/>
            <a:ext cx="26586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3A1A1"/>
                </a:solidFill>
                <a:latin typeface="Calibri"/>
              </a:rPr>
              <a:t>skuteczność scrapowania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27414" y="1234440"/>
            <a:ext cx="2658618" cy="1600200"/>
          </a:xfrm>
          <a:prstGeom prst="rect">
            <a:avLst/>
          </a:prstGeom>
          <a:solidFill>
            <a:srgbClr val="073642"/>
          </a:solidFill>
          <a:ln w="19050"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27414" y="1371600"/>
            <a:ext cx="265861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B58900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7414" y="2148840"/>
            <a:ext cx="26586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3A1A1"/>
                </a:solidFill>
                <a:latin typeface="Calibri"/>
              </a:rPr>
              <a:t>moduły aplikacji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17520"/>
            <a:ext cx="11183112" cy="3520440"/>
          </a:xfrm>
          <a:prstGeom prst="rect">
            <a:avLst/>
          </a:prstGeom>
          <a:solidFill>
            <a:srgbClr val="073642"/>
          </a:solidFill>
          <a:ln w="1270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53172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A198"/>
                </a:solidFill>
                <a:latin typeface="Calibri"/>
              </a:rPr>
              <a:t>🌐  Działa w przeglądarce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56432"/>
            <a:ext cx="5317236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1"/>
                </a:solidFill>
                <a:latin typeface="Calibri"/>
              </a:rPr>
              <a:t>Nie wymaga instalacji — dostęp z każdego komputera w sieci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4516" y="3108960"/>
            <a:ext cx="53172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A198"/>
                </a:solidFill>
                <a:latin typeface="Calibri"/>
              </a:rPr>
              <a:t>🔄  Samouczący się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516" y="3456432"/>
            <a:ext cx="5317236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1"/>
                </a:solidFill>
                <a:latin typeface="Calibri"/>
              </a:rPr>
              <a:t>Każde wyszukiwanie jest rejestrowane i poprawia przyszłe wyniki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69180"/>
            <a:ext cx="53172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A198"/>
                </a:solidFill>
                <a:latin typeface="Calibri"/>
              </a:rPr>
              <a:t>📈  Skalowalny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16652"/>
            <a:ext cx="5317236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1"/>
                </a:solidFill>
                <a:latin typeface="Calibri"/>
              </a:rPr>
              <a:t>Baza może zostać rozszerzona o kolejne katalogi bez przebudowy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4869180"/>
            <a:ext cx="53172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A198"/>
                </a:solidFill>
                <a:latin typeface="Calibri"/>
              </a:rPr>
              <a:t>🔗  Gotowy do integracji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5216652"/>
            <a:ext cx="5317236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1"/>
                </a:solidFill>
                <a:latin typeface="Calibri"/>
              </a:rPr>
              <a:t>Możliwość podłączenia do systemów ERP / SAP przez interfejs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Podsumowanie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477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59900"/>
                </a:solidFill>
                <a:latin typeface="Calibri"/>
              </a:rPr>
              <a:t>Co zostało zrealizowane: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477256" cy="64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✅  System wyszukiwania semantycznego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8251"/>
            <a:ext cx="5477256" cy="64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✅  Baza 68 991 indeksów materiałowych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84862"/>
            <a:ext cx="5477256" cy="64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✅  4 moduły: tekst, URL, zbiorcze, propozycje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31474"/>
            <a:ext cx="5477256" cy="64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✅  Interfejs webowy (przeglądarka)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78085"/>
            <a:ext cx="5477256" cy="64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✅  Automatyczne scrapowanie stron sklepów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924697"/>
            <a:ext cx="5477256" cy="64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✅  Eksport wyników do pliku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71308"/>
            <a:ext cx="5477256" cy="64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✅  Ocena pewności każdego dopasowania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234440"/>
            <a:ext cx="5477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8BD2"/>
                </a:solidFill>
                <a:latin typeface="Calibri"/>
              </a:rPr>
              <a:t>Możliwości rozwoju: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6" y="1691640"/>
            <a:ext cx="547725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🔷  Integracja z systemami ERP / SAP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2596896"/>
            <a:ext cx="547725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🔷  Rozszerzenie na inne katalogi branżowe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3502152"/>
            <a:ext cx="547725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🔷  Automatyczne przetwarzanie zamówień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4407408"/>
            <a:ext cx="547725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🔷  Aplikacja mobilna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5312664"/>
            <a:ext cx="547725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🔷  Moduł zatwierdzania dla działów zakupów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943600"/>
            <a:ext cx="11183112" cy="594360"/>
          </a:xfrm>
          <a:prstGeom prst="rect">
            <a:avLst/>
          </a:prstGeom>
          <a:solidFill>
            <a:srgbClr val="0A4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007608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3A1A1"/>
                </a:solidFill>
                <a:latin typeface="Calibri"/>
              </a:rPr>
              <a:t>IndeksyGSR  ·  Politechnika Gdańska  ·  2025 /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851</Words>
  <Application>Microsoft Macintosh PowerPoint</Application>
  <PresentationFormat>Niestandardowy</PresentationFormat>
  <Paragraphs>147</Paragraphs>
  <Slides>11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Rafał Kamiński</cp:lastModifiedBy>
  <cp:revision>2</cp:revision>
  <dcterms:created xsi:type="dcterms:W3CDTF">2013-01-27T09:14:16Z</dcterms:created>
  <dcterms:modified xsi:type="dcterms:W3CDTF">2026-04-13T07:52:37Z</dcterms:modified>
  <cp:category/>
</cp:coreProperties>
</file>